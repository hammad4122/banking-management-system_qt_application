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80" r:id="rId7"/>
    <p:sldId id="284" r:id="rId8"/>
    <p:sldId id="28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5" r:id="rId17"/>
    <p:sldId id="286" r:id="rId18"/>
    <p:sldId id="287" r:id="rId19"/>
    <p:sldId id="288" r:id="rId20"/>
    <p:sldId id="268" r:id="rId21"/>
    <p:sldId id="269" r:id="rId22"/>
    <p:sldId id="270" r:id="rId23"/>
    <p:sldId id="271" r:id="rId24"/>
    <p:sldId id="282" r:id="rId25"/>
    <p:sldId id="283" r:id="rId26"/>
    <p:sldId id="272" r:id="rId27"/>
    <p:sldId id="273" r:id="rId28"/>
    <p:sldId id="274" r:id="rId29"/>
    <p:sldId id="275" r:id="rId30"/>
    <p:sldId id="276" r:id="rId31"/>
    <p:sldId id="278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ECA71-2340-418B-B1F0-9FA5B9B315BC}" v="7" dt="2026-05-24T15:17:42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53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89A3-CF7B-2CC5-451E-29B2801C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F4786-0117-0E55-FED7-53F6A7583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E8BCE-59AE-9CD1-4780-3D33FBD11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E9091-3A21-8B92-30A4-57D777EC23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17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BF39-59F0-C154-B016-C4E0EBD3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075E0-EECD-CAA6-BFA6-F5F64D57A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8BA4C-886C-C681-8103-A48D177CD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D75A2-F02F-8D62-0F88-92DD28C8B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36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3F47-44FD-895A-E47A-E955A41D8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6EE0A-E3A1-5751-70EB-D625AD398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ADAD6-2B26-CB9E-1EAB-0D642878E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3FF3-6817-C6A7-EBB9-02CB6BBEA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68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236E8-7E9D-11C5-CB13-E3EC6A734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0F04F-E550-D675-7A0B-F671ABBD4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0F321-F27A-86C7-6092-6204B598F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6C79-5208-E361-05F8-EADF11B5C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14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DEB4-EE2A-C6FF-67B6-C9816E90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4ADEC-77B6-FD8B-0747-53A4AF451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0618F-E1D1-BA6A-1301-51A111213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FFF55-6B5A-1EED-B4E5-D02DC9365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62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CF72-83F5-FBAC-82BF-0693CF449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16505-1332-C52B-B21B-2AABB189D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31637-4980-4627-D58F-0F901C2B1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C8D9-D4C5-A756-03DA-053427435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56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71AE0-E04E-C125-9D74-9FC0BEAD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74467-18DF-5389-5425-318B68793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CD98A-23E5-7763-B7E7-5A3BFCC64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B7FB2-F225-9604-844D-616A9B57A5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55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6B4A">
              <a:alpha val="40000"/>
            </a:srgbClr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50C878">
              <a:alpha val="20000"/>
            </a:srgbClr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1A6B4A">
              <a:alpha val="40000"/>
            </a:srgbClr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64008" cy="256032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Semester Project  •  BSE-2A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Management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Qt/C++ desktop banking application with dual-theme UI, secure authentication, and real-time transaction management.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6B4A">
              <a:alpha val="70000"/>
            </a:srgbClr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49884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Hammad Ateeq (047)     |     Muhammad Shayan Chaudhary (061)     |     Bahria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75488" cy="7498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0624" y="10058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10058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scope and technology stack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847088"/>
            <a:ext cx="475488" cy="7498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8928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408" y="18928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231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hierarchy, component flow &amp; ER Diagram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3405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734056"/>
            <a:ext cx="475488" cy="7498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27797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8408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118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the application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62102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621024"/>
            <a:ext cx="475488" cy="7498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6667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8408" y="36667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Showcase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screenshot slides — all screens incl. Admin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75488" cy="7498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64024" y="10058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21808" y="10058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Encapsulation, Inheritance, Polymorphism &amp; more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84708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475488" cy="7498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64024" y="18928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21808" y="18928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231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responsibilities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professional desktop banking application built with Qt6 and C++17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37744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desktop banking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user registration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Withdraw &amp; Transfer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TPIN-secured transactions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70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371600"/>
            <a:ext cx="2651760" cy="3520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481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0128" y="1920240"/>
            <a:ext cx="2377440" cy="0"/>
          </a:xfrm>
          <a:prstGeom prst="line">
            <a:avLst/>
          </a:prstGeom>
          <a:noFill/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OOP principles in practice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production-grade UI with Qt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944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database-backed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4198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 dual-theme design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secure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4370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real-world project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25896" y="1371600"/>
            <a:ext cx="265176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63056" y="1481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63056" y="1920240"/>
            <a:ext cx="237744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63056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C++17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3056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Framework: Qt6 Widgets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63056" y="2944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(Qt Sql)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63056" y="34198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CMake 3.16+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63056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Qt Creator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63056" y="4370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QSS Stylesheets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hierarchy and component relationships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1417320"/>
            <a:ext cx="2286000" cy="59436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29000" y="1417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QStackedWidget — orchestrates all pages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V="1">
            <a:off x="1508760" y="2313432"/>
            <a:ext cx="5710167" cy="18288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08760" y="2331720"/>
            <a:ext cx="0" cy="18288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0" cy="18288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18927" y="2313432"/>
            <a:ext cx="0" cy="18288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2286000" cy="5943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LoginWindow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UI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2651760"/>
            <a:ext cx="2286000" cy="5943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SignupWindow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21380" y="322783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UI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55080" y="2647189"/>
            <a:ext cx="1600198" cy="5943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75927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DashboardWindow  (Shell)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45445" y="32659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UserDashboard + AdminDashboard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703320"/>
            <a:ext cx="2286000" cy="594360"/>
          </a:xfrm>
          <a:prstGeom prst="rect">
            <a:avLst/>
          </a:prstGeom>
          <a:solidFill>
            <a:srgbClr val="2ECC71">
              <a:alpha val="85000"/>
            </a:srgbClr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BasePage  (Base Class)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64380" y="3488436"/>
            <a:ext cx="0" cy="192024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98755" y="33741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09560" y="14356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Classes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92440" y="1691640"/>
            <a:ext cx="822960" cy="5486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92440" y="1691640"/>
            <a:ext cx="822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BankDB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092440" y="2011680"/>
            <a:ext cx="822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layer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8092440" y="2606040"/>
            <a:ext cx="822960" cy="5486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92440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UserSessionHandler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092440" y="2926080"/>
            <a:ext cx="822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 DTO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8092440" y="3520440"/>
            <a:ext cx="822960" cy="5486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9244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TransactionDialog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092440" y="3840480"/>
            <a:ext cx="822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Withdraw / Transfer</a:t>
            </a:r>
            <a:endParaRPr lang="en-US" sz="600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DC64467F-C2DD-AEC0-B307-3ADF14B9A7FB}"/>
              </a:ext>
            </a:extLst>
          </p:cNvPr>
          <p:cNvSpPr/>
          <p:nvPr/>
        </p:nvSpPr>
        <p:spPr>
          <a:xfrm>
            <a:off x="1562100" y="4043172"/>
            <a:ext cx="1866900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1E05D732-5897-C219-AB6F-239CF51EB972}"/>
              </a:ext>
            </a:extLst>
          </p:cNvPr>
          <p:cNvSpPr/>
          <p:nvPr/>
        </p:nvSpPr>
        <p:spPr>
          <a:xfrm>
            <a:off x="5715000" y="4043172"/>
            <a:ext cx="1503927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988E1421-7B12-55B7-8E81-721917B8F560}"/>
              </a:ext>
            </a:extLst>
          </p:cNvPr>
          <p:cNvSpPr/>
          <p:nvPr/>
        </p:nvSpPr>
        <p:spPr>
          <a:xfrm>
            <a:off x="1524000" y="3703320"/>
            <a:ext cx="0" cy="339852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DDB3F102-891B-6B3C-DA2E-D17A3E6E42A9}"/>
              </a:ext>
            </a:extLst>
          </p:cNvPr>
          <p:cNvSpPr/>
          <p:nvPr/>
        </p:nvSpPr>
        <p:spPr>
          <a:xfrm>
            <a:off x="7218927" y="3703320"/>
            <a:ext cx="0" cy="339852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9D4148C3-DC01-40D3-D7E1-6C24BE44405F}"/>
              </a:ext>
            </a:extLst>
          </p:cNvPr>
          <p:cNvSpPr/>
          <p:nvPr/>
        </p:nvSpPr>
        <p:spPr>
          <a:xfrm>
            <a:off x="6222752" y="38145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8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DA7F4AD8-F42C-8190-994E-27BAFB083593}"/>
              </a:ext>
            </a:extLst>
          </p:cNvPr>
          <p:cNvSpPr/>
          <p:nvPr/>
        </p:nvSpPr>
        <p:spPr>
          <a:xfrm>
            <a:off x="2095500" y="38145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Database: ER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structure of the MySQL database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ER DIAGRAM  IMAGE  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ER diagram export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4407408"/>
            <a:ext cx="1691640" cy="2926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48840" y="4407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4407408"/>
            <a:ext cx="1691640" cy="2926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69080" y="4407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4407408"/>
            <a:ext cx="1691640" cy="292608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9320" y="4407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9F43F7-97A2-EDF8-C243-8899007BC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52728"/>
            <a:ext cx="8412480" cy="37490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63CB0-EC47-4F7F-E616-396005B1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D48088-B593-7043-6DCC-06006DEDA138}"/>
              </a:ext>
            </a:extLst>
          </p:cNvPr>
          <p:cNvSpPr/>
          <p:nvPr/>
        </p:nvSpPr>
        <p:spPr>
          <a:xfrm>
            <a:off x="-1524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56D751-9919-D092-BF5A-C413B7FEBF61}"/>
              </a:ext>
            </a:extLst>
          </p:cNvPr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UML: Use Case Diagram: Customer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7519C7-1D7B-8FBD-5B8B-384E10DE86D4}"/>
              </a:ext>
            </a:extLst>
          </p:cNvPr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 case diagram shows all the use cases in the system.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E72DCB-192B-628E-0687-A44DBBE9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62" t="1" b="13482"/>
          <a:stretch>
            <a:fillRect/>
          </a:stretch>
        </p:blipFill>
        <p:spPr>
          <a:xfrm>
            <a:off x="1638300" y="940308"/>
            <a:ext cx="5989320" cy="413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5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25483-0A26-2929-1FFD-FEEC0F8E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4A5A3A-A40A-7936-5227-AD9A741EB4BD}"/>
              </a:ext>
            </a:extLst>
          </p:cNvPr>
          <p:cNvSpPr/>
          <p:nvPr/>
        </p:nvSpPr>
        <p:spPr>
          <a:xfrm>
            <a:off x="-1524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045AAB-95A3-F01E-285D-558D059B8258}"/>
              </a:ext>
            </a:extLst>
          </p:cNvPr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UML: Use Case Diagram: Admin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3DC788-C6CF-3C47-72DF-D28A2FACBAC1}"/>
              </a:ext>
            </a:extLst>
          </p:cNvPr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 case diagram shows all the use cases in the system.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04953C-238E-1704-BB66-D47EBE75A7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8" b="5198"/>
          <a:stretch/>
        </p:blipFill>
        <p:spPr>
          <a:xfrm>
            <a:off x="1638300" y="940308"/>
            <a:ext cx="5989320" cy="413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2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BD788-F06F-06AA-4FD5-ED8CE860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9D2D3A-4F64-A39F-F056-0161DA92C935}"/>
              </a:ext>
            </a:extLst>
          </p:cNvPr>
          <p:cNvSpPr/>
          <p:nvPr/>
        </p:nvSpPr>
        <p:spPr>
          <a:xfrm>
            <a:off x="-1524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7395B3-D28B-22CE-5782-DA058724724B}"/>
              </a:ext>
            </a:extLst>
          </p:cNvPr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UML: Class Diagram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9D9B85-2F0E-E6E9-BC27-E66546DC3F08}"/>
              </a:ext>
            </a:extLst>
          </p:cNvPr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 case diagram shows all the use cases in the system.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5C0A9-2C59-7C50-5AE5-E789D18CDD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802"/>
          <a:stretch>
            <a:fillRect/>
          </a:stretch>
        </p:blipFill>
        <p:spPr>
          <a:xfrm>
            <a:off x="1767840" y="1005840"/>
            <a:ext cx="5608320" cy="406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6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delivered in this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97480" cy="162763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54864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423160" cy="0"/>
          </a:xfrm>
          <a:prstGeom prst="line">
            <a:avLst/>
          </a:prstGeom>
          <a:noFill/>
          <a:ln w="889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login with credential verification. Registration with full field validation. Session-based access control after login.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97480" cy="162763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97480" cy="54864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847088"/>
            <a:ext cx="2423160" cy="0"/>
          </a:xfrm>
          <a:prstGeom prst="line">
            <a:avLst/>
          </a:prstGeom>
          <a:noFill/>
          <a:ln w="889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on a styled debit card widget. Income, expense &amp; savings summary cards. Full transaction history table.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697480" cy="162763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697480" cy="54864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Engine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847088"/>
            <a:ext cx="2423160" cy="0"/>
          </a:xfrm>
          <a:prstGeom prst="line">
            <a:avLst/>
          </a:prstGeom>
          <a:noFill/>
          <a:ln w="889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Withdraw and Transfer to other accounts. Every transaction TPIN-verified. Input validation before any database write.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697480" cy="162763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2697480" cy="54864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Dual-Theme System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2423160" cy="0"/>
          </a:xfrm>
          <a:prstGeom prst="line">
            <a:avLst/>
          </a:prstGeom>
          <a:noFill/>
          <a:ln w="889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and Dark Emerald themes toggle globally. All windows, dialogs and cards update simultaneously via a static flag.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697480" cy="162763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154680"/>
            <a:ext cx="2697480" cy="54864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TPIN Security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3630168"/>
            <a:ext cx="2423160" cy="0"/>
          </a:xfrm>
          <a:prstGeom prst="line">
            <a:avLst/>
          </a:prstGeom>
          <a:noFill/>
          <a:ln w="889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3703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4-digit Transaction PIN protects all fund movements. Numeric validator, disabled confirm until length is complete.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154680"/>
            <a:ext cx="2697480" cy="162763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3154680"/>
            <a:ext cx="2697480" cy="54864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3630168"/>
            <a:ext cx="2423160" cy="0"/>
          </a:xfrm>
          <a:prstGeom prst="line">
            <a:avLst/>
          </a:prstGeom>
          <a:noFill/>
          <a:ln w="889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3703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admin control panel with 4 tabs: Overview (system-wide stats), Users (searchable table), Accounts (all balances) and Credentials (change admin username/password).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Login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Theme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palette — clean professional look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3CDB1B-3C00-DF08-B2B0-9E2721A64C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620" y="1115568"/>
            <a:ext cx="8229599" cy="38039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Login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palette — modern premium look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A9BAB0-C1CC-69C0-3E9C-FCD5E1A7A1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15568"/>
            <a:ext cx="8229600" cy="3803904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Signup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Theme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palette — clean professional look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SIGNUP  —  LIGHT BLUE THEME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1E8D69-78E7-5DE2-A124-C7B2ACAF1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7684"/>
            <a:ext cx="8503920" cy="3721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Signup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palette — modern premium look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SIGNUP  —  DARK EMERALD THEME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819FD9-4885-2F3B-21B3-3AA132898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1101"/>
            <a:ext cx="8503920" cy="3752696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Theme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palette — clean professional look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DASHBOARD  —  LIGHT BLUE THEME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DCE7A1-5A8D-18E1-59CD-EE4B37B6B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8503920" cy="38039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palette — modern premium look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DASHBOARD  —  DARK EMERALD THEME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1F28AC-BFBB-7040-412E-9A9278349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8503920" cy="3749040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F5920-06C8-B610-7368-19870F75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22026A-BA76-3433-5926-3186F9055B7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2DD081-DA97-9305-B79D-39D44A753F20}"/>
              </a:ext>
            </a:extLst>
          </p:cNvPr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Admin Dashboard: Overview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A7E701-17C4-EA1F-8EB0-ABDC4BA10275}"/>
              </a:ext>
            </a:extLst>
          </p:cNvPr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423C3C-4638-6CBB-4359-F85B4BB2E1C9}"/>
              </a:ext>
            </a:extLst>
          </p:cNvPr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palette — modern premium look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31265C-099E-3C52-27A7-53E58BA806FC}"/>
              </a:ext>
            </a:extLst>
          </p:cNvPr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DASHBOARD  —  DARK EMERALD THEME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5FF496F-AFE6-7FD6-7B81-14DC69C5995A}"/>
              </a:ext>
            </a:extLst>
          </p:cNvPr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A88DD9-6F80-9480-DCCF-D6C29196F5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70432"/>
            <a:ext cx="8282939" cy="3749040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1109267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C7BCD-03FF-9D20-AA9F-8D6617EF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192937-5344-9AD0-FDF1-589CED490E1E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E2E25E-B6EC-2F3F-3311-3591AC9F424A}"/>
              </a:ext>
            </a:extLst>
          </p:cNvPr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Admin Dashboard: Users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4CED66-71B9-3D1B-9119-065F068E1230}"/>
              </a:ext>
            </a:extLst>
          </p:cNvPr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38EF32-15BE-F28B-6E6C-502ACC376E40}"/>
              </a:ext>
            </a:extLst>
          </p:cNvPr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palette — modern premium look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98ED9F-6C56-1113-200F-EFB1F593A5D7}"/>
              </a:ext>
            </a:extLst>
          </p:cNvPr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DASHBOARD  —  DARK EMERALD THEME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6E16CB-E0E8-AD04-46BA-3921DE7694C4}"/>
              </a:ext>
            </a:extLst>
          </p:cNvPr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92324-80FE-50FE-2260-DA54F77F3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6240" y="1170432"/>
            <a:ext cx="8427719" cy="3749040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270887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7EE01-2E07-4685-F107-1946DD40D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708C99-89E4-7178-C075-5191DD836C7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F25880-CC02-577A-60E4-CE88101086E3}"/>
              </a:ext>
            </a:extLst>
          </p:cNvPr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Admin Dashboard: Accounts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58C23A-2F00-7216-69C3-23F8BB044183}"/>
              </a:ext>
            </a:extLst>
          </p:cNvPr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DB6916-F9AC-5EF7-EA8C-2F65391F2675}"/>
              </a:ext>
            </a:extLst>
          </p:cNvPr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palette — modern premium look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B9579E-0DEB-B8AE-D71D-5C3910CFB864}"/>
              </a:ext>
            </a:extLst>
          </p:cNvPr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DASHBOARD  —  DARK EMERALD THEME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717DFC-5BB2-FA73-1B41-D0CDE512E036}"/>
              </a:ext>
            </a:extLst>
          </p:cNvPr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6FC429-6A62-391E-23A9-1D25824DC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3380" y="1170432"/>
            <a:ext cx="8450579" cy="3749040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4201378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B9706-D095-1756-1930-27A39298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CFDCA5-3EF6-BE9B-919D-F80FE2F49473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540CE4-4C1A-D90C-5BE3-FECAA8CCF979}"/>
              </a:ext>
            </a:extLst>
          </p:cNvPr>
          <p:cNvSpPr/>
          <p:nvPr/>
        </p:nvSpPr>
        <p:spPr>
          <a:xfrm>
            <a:off x="457200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Admin Dashboard: Credentials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7E4520-A401-292B-32AD-E6EFE35B8A17}"/>
              </a:ext>
            </a:extLst>
          </p:cNvPr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FBCA10-3D8C-F249-A368-8E118503E7CD}"/>
              </a:ext>
            </a:extLst>
          </p:cNvPr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palette — modern premium look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70CF47-89E5-EDA1-93E5-6A3AA10AD017}"/>
              </a:ext>
            </a:extLst>
          </p:cNvPr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—  DASHBOARD  —  DARK EMERALD THEME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59AAD5-D1AF-A151-FE42-B9EC73CE7405}"/>
              </a:ext>
            </a:extLst>
          </p:cNvPr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box → Insert &gt; Picture → select your screenshot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44FDC8-9679-9F7D-D7AA-88B50A8506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70432"/>
            <a:ext cx="8503919" cy="3749040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1699779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Deposit Dialog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funds — both themes side by side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Dialog — Light Blue Theme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Theme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Dialog — Dark Emerald Theme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95D890-9953-D43D-998C-6AA3FA1FA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3"/>
            <a:ext cx="3566160" cy="31043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CE9E85-36E3-32B4-BEE2-721DC8788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70432"/>
            <a:ext cx="3566160" cy="31043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Withdraw Dialog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funds — both themes side by side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Dialog — Light Blue Theme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Theme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Dialog — Dark Emerald Theme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396E72-7E9A-3313-F5A0-089B8C95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1161977"/>
            <a:ext cx="3566160" cy="30214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165AEFD-E875-AC18-0B95-BC67925CE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70432"/>
            <a:ext cx="3566160" cy="30129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Transfer Dialog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another account — both themes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Dialog — Light Blue Theme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Theme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Dialog — Dark Emerald Theme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3317F8-0365-C3C2-CF94-9C7572237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170432"/>
            <a:ext cx="3566160" cy="32110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7D73E3-56AB-74A3-792C-88FF95BE7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71512"/>
            <a:ext cx="3566160" cy="32099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TPIN Dialog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verification popup — both themes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TPIN Dialog — Light Blue Theme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Theme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TPIN Dialog — Dark Emerald Theme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Theme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0B290-B570-4870-83EE-253BBC078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24940"/>
            <a:ext cx="3566160" cy="2651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61FF67-AEF6-ECD0-A884-A09AFB38F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24940"/>
            <a:ext cx="3566160" cy="265175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Admin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 — Overview &amp; Users tabs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Overview Tab — System-Wide Stats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Tab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 Tab — Searchable User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0B290-B570-4870-83EE-253BBC078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4940"/>
            <a:ext cx="3566160" cy="2651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61FF67-AEF6-ECD0-A884-A09AFB38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24940"/>
            <a:ext cx="3566160" cy="265175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UI Showcase: Admin Dashboard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Credentials management tabs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Accounts Tab — All Account Balances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solidFill>
            <a:srgbClr val="2D60FF"/>
          </a:solidFill>
          <a:ln w="12700">
            <a:solidFill>
              <a:srgbClr val="2D6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Tab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Credentials Tab — Change Username / Password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Tab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0B290-B570-4870-83EE-253BBC078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4940"/>
            <a:ext cx="3566160" cy="2651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61FF67-AEF6-ECD0-A884-A09AFB38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24940"/>
            <a:ext cx="3566160" cy="26517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OOP Concepts: Encapsulation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internal state and exposing only clean interfaces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4864" cy="6858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bundles data and methods into a single unit (class), restricting direct access to internal state using private/protected access modifiers.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269748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697480" cy="384048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258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BankDB  — Data Access Layer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queries are private — no outside code touches the DB directly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API: loginUser(), executeDeposit(), transfer() etc.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7033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connection/disconnection fully managed inside the class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2062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never see SQL strings or QSqlQuery — only results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269748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2240280"/>
            <a:ext cx="2697480" cy="384048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2258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UserSessionHandler  — Session DTO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2697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ID, Account ID, Balance are private member variables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2004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only through getters: getUserId(), getAccountID()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37033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setBalance() allows controlled mutation — no raw field access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42062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corruption of live session state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2240280"/>
            <a:ext cx="269748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0760" y="2240280"/>
            <a:ext cx="2697480" cy="384048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22585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TransactionDialog  — UI Logic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2697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 and status labels are all private members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32004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handleInputs() and handleTransaction() are private methods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37033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outcome (Accepted/Rejected) is communicated via signals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42062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TPIN verification encapsulated inside the dialog flow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OOP Concepts: Inheritance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common behaviour and state through a base class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417320"/>
            <a:ext cx="27432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1463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10128" y="18745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isDarkMode  •  db (BankDB)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applyCurrentTheme()  •  updateIcons()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2651760"/>
            <a:ext cx="0" cy="27432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71600" y="2926080"/>
            <a:ext cx="0" cy="18288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0" cy="18288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0" y="2926080"/>
            <a:ext cx="0" cy="182880"/>
          </a:xfrm>
          <a:prstGeom prst="line">
            <a:avLst/>
          </a:prstGeom>
          <a:noFill/>
          <a:ln w="190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2697480" cy="365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LoginWindow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204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themeToggleBtn / bankLogoLabel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handleLogin() validation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0142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Emits: loginSuccessful(session)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2611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Emits: signupRequested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2697480" cy="365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0" y="31272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SignupWindow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Multi-field registration 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767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per field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40142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Emits: loginRequested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42611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Emits: themeChangeRequested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46519" y="3108960"/>
            <a:ext cx="2514597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46520" y="3108960"/>
            <a:ext cx="2514594" cy="365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31272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DashboardWindow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5204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Admin sub-dashboards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767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table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7960" y="40142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initializeUserDashboard(session)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42611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Emits: logoutRequested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754880"/>
            <a:ext cx="850392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4754880"/>
            <a:ext cx="54864" cy="34747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77316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All 4 page classes automatically got a working DB connection, theme engine and icon update logic — zero code duplication.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OOP Concepts: Polymorphism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multiple behaviours — at compile time and runtime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64008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Polymorphism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Functions (paintEvent)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paintEvent() is virtual — overridden in BasePage and TransactionDialog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Qt's event system calls the correct version at runtime without knowing the type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493008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widget renders its background through one unified virtual interface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419709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Qt pattern — required for custom QWidget painting to work correctly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74320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743200" cy="6400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Polymorphism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2084832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applyCurrentTheme() exists in BasePage, TPinDialog and TransactionDialog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2788920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same purpose — different implementation per widget type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493008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code is clean: dialog.applyCurrentTheme() works for any dialog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419709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casting needed — each class knows how to style itself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274320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2743200" cy="6400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Signal/Slot Polymorphism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Meta-Object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084832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connects themeChangeRequested signal from 3 different page types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2788920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stored in QStackedWidget as QWidget pointers — fully polymorphic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3493008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loginSuccessful(session) triggers dashboard init via one slot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419709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loose coupling — pages don't know about each other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OOP: Composition, Abstraction &amp; Best Practices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OOP principles applied throughout the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4864" cy="109728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344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DashboardWindow contains BankDB and UserSessionHandler as member objects — favouring 'has-a' over 'is-a' where appropriate.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" y="2194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Dashboard stays independent; DB can be swapped without touching the page class.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38988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389888"/>
            <a:ext cx="54864" cy="109728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55464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55464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BasePage is never instantiated directly. It defines what all pages must have without specifying how each page looks or behaves.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194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MainWindow works with any BasePage subclass generically — adding a new page needs zero changes to existing code.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54864" cy="109728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" y="2660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" y="2953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per class: BankDB for queries, UserSessionHandler for session, TransactionDialog for flow, TPinDialog for TPIN only.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" y="3410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Bugs are isolated — a TPIN fix didn't risk breaking dashboard rendering.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6060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606040"/>
            <a:ext cx="54864" cy="109728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55464" y="2660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55464" y="2953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members throughout: transaction helpers, DB queries, form fields. Public interfaces are deliberately minimal.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5464" y="3410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Reduced accidental coupling between classes during development.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54864" cy="109728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(Signals/Slots)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" y="4169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Qt's signal/slot system implements the Observer pattern — pages emit signals, MainWindow observes without tight coupling.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" y="4626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Theme changes, login and logout events propagate cleanly without pages knowing about each other.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8221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822192"/>
            <a:ext cx="54864" cy="109728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55464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Principle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55464" y="4169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Stylesheets defined once in BasePage as static const QString. Validation centralised per dialog. resetForm() reuses one loop.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55464" y="4626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Editing the light theme stylesheet updated Login, Signup and Dashboard simultaneously.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Team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responsibilities across the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69080" cy="382219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69080" cy="530352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Hammad Ateeq  (047)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7282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UI 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2938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LoginWindow, SignupWindow, DashboardWindow and AdminDashboardWindow using QWidgets and QLayouts, including all form fields, card widgets and the debit card layout.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304288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3134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Theme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51460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the full QSS stylesheet system in BasePage — both themes — with dynamic runtime switching across all pages.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889504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8986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09981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TransactionDialog for all three transaction types with full input validation, TPIN flow integration and success animation.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474720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48386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68503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BankDB class with all SQL queries for user management, account operations, balance retrieval, transaction logging and admin-only system-wide stats and credential management.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4059936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40690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&amp; Navigation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427024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QStackedWidget navigation, session handoff on login, page switching signals and logout flow.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44568" y="1143000"/>
            <a:ext cx="0" cy="3749040"/>
          </a:xfrm>
          <a:prstGeom prst="line">
            <a:avLst/>
          </a:prstGeom>
          <a:noFill/>
          <a:ln w="12700">
            <a:solidFill>
              <a:srgbClr val="C8E6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1097280"/>
            <a:ext cx="4069080" cy="3822192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1097280"/>
            <a:ext cx="4069080" cy="530352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115568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Shayan Chaudhary  (061)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1719072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93208" y="17282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(DTO)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93208" y="192938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UserSessionHandler — the secure DTO holding the live user's ID, account number and balance throughout a session.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2304288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93208" y="23134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TPIN Security Dialog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93208" y="251460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TPinDialog with 4-digit secure input, numeric validator, disabled confirm until PIN is complete, and theme-aware styling.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2889504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93208" y="28986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BasePage Foundation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93208" y="309981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Co-developed BasePage including the static isDarkMode flag, icon update mechanism, and applyCurrentTheme() foundation used by all pages.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3474720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93208" y="348386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93208" y="368503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the full black-box testing phase — validating every user-facing feature: login, signup, all transactions, theme switching and error states.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37760" y="4059936"/>
            <a:ext cx="54864" cy="45720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93208" y="40690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 &amp; Fixes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93208" y="427024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defects found during testing and coordinated fixes, ensuring all edge cases (empty fields, wrong TPIN, self-transfer) were handled.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A6B4A">
              <a:alpha val="40000"/>
            </a:srgbClr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1A6B4A">
              <a:alpha val="40000"/>
            </a:srgbClr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64008" cy="1623060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56438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happy to walk through any part of the code, architecture, or design decisions.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64992"/>
            <a:ext cx="4069080" cy="1325880"/>
          </a:xfrm>
          <a:prstGeom prst="rect">
            <a:avLst/>
          </a:prstGeom>
          <a:solidFill>
            <a:srgbClr val="1A6B4A">
              <a:alpha val="75000"/>
            </a:srgbClr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Hammad Ateeq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673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047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40416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Architecture, UI, Database, Transactions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92040" y="3364992"/>
            <a:ext cx="4069080" cy="1325880"/>
          </a:xfrm>
          <a:prstGeom prst="rect">
            <a:avLst/>
          </a:prstGeom>
          <a:solidFill>
            <a:srgbClr val="1A6B4A">
              <a:alpha val="75000"/>
            </a:srgbClr>
          </a:solidFill>
          <a:ln w="1270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34290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Shayan Chaudhary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7673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061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40416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DTO, TPIN, BasePage, QA Testing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A12"/>
          </a:solidFill>
          <a:ln w="12700">
            <a:solidFill>
              <a:srgbClr val="07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837176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Management System  •  OOP Semester Project  •  BSE-2A  •  Bahria University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2147</Words>
  <Application>Microsoft Office PowerPoint</Application>
  <PresentationFormat>On-screen Show (16:9)</PresentationFormat>
  <Paragraphs>337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Management System — OOP Semester Project</dc:title>
  <dc:subject>PptxGenJS Presentation</dc:subject>
  <dc:creator>Muhammad Hammad Ateeq &amp; Muhammad Shayan Chaudhary</dc:creator>
  <cp:lastModifiedBy>Muhammad Hammad Ateeq</cp:lastModifiedBy>
  <cp:revision>8</cp:revision>
  <dcterms:created xsi:type="dcterms:W3CDTF">2026-05-19T11:02:39Z</dcterms:created>
  <dcterms:modified xsi:type="dcterms:W3CDTF">2026-05-24T15:47:33Z</dcterms:modified>
</cp:coreProperties>
</file>